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1920240"/>
            <a:ext cx="731520" cy="73152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103120"/>
            <a:ext cx="10972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Inter"/>
              </a:rPr>
              <a:t>AI 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8404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D4A843"/>
                </a:solidFill>
                <a:latin typeface="Inter"/>
              </a:rPr>
              <a:t>Digital Literacy for Every Community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62179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Inter"/>
              </a:rPr>
              <a:t>SCAiL — South Carolina AI Literacy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0" y="457200"/>
            <a:ext cx="548640" cy="54864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1097280" cy="3000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000" b="1">
                <a:solidFill>
                  <a:srgbClr val="1B365D"/>
                </a:solidFill>
                <a:latin typeface="Inter"/>
              </a:rPr>
              <a:t>What We'll Cover Today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926080"/>
            <a:ext cx="10972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1.  Recognizing AI-generated scams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2.  Deepfakes and misinformation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3.  Protecting your personal data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4.  Safe AI tool usage</a:t>
            </a:r>
          </a:p>
          <a:p>
            <a:pPr algn="l">
              <a:spcAft>
                <a:spcPts val="14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5.  When NOT to trust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Safety and Digital Literacy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6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371600"/>
            <a:ext cx="1828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0" b="1">
                <a:solidFill>
                  <a:srgbClr val="D4A843"/>
                </a:solidFill>
                <a:latin typeface="Inter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468880"/>
            <a:ext cx="960120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Inter"/>
              </a:rPr>
              <a:t>The same technology that helps a kid finish a homework assignment is being used to clone a grandmother's voice. We have to teach both sides.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035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D4A843"/>
                </a:solidFill>
                <a:latin typeface="Inter"/>
              </a:rPr>
              <a:t>— SCAiL Field Notes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Safety and Digital Literacy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Module 1: AI-Generated Scams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What's New About AI Scams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Fake voices that sound like your real family members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Texts and emails written in perfect, polite English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Fake websites that look exactly like real banks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AI calls that pass for a real customer service rep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Scammers use AI to scale faster than ever before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40000" cy="5029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Inter"/>
              </a:rPr>
              <a:t>Presenter note: Many seniors think 'I would notice.' Show real examples to make the threat concrete.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Safety and Digital Literacy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Red Flags to Watch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Urgency: 'You need to act right now or else'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Unusual payment methods: gift cards, wire, crypto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Strange greetings: 'Dear customer' from your own bank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 familiar voice asking for money or passwords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Anything you'd be embarrassed to ask family about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Safety and Digital Literacy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Module 2: Deepfakes &amp; Misinformation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Seeing Isn't Believing Anymore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Photos and videos can be faked with one click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AI can clone a voice from 3 seconds of audio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Fake news articles look like real ones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Even live video calls can be manipulated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Always verify shocking content from a second source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Safety and Digital Literacy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011680" cy="41148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430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Hands-On: Spot the Fake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17520"/>
            <a:ext cx="109728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1.  Look at the four photos on the screen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2.  Two are real, two are AI-generated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3.  Discuss with your neighbor which is which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4.  We'll reveal the answers together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5.  Notice what gave the fakes away — and what didn't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Safety and Digital Literacy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Module 3: Protecting Your Data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Your Data Is the Product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Most free apps make money from your information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Don't paste sensitive details into any AI tool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Never share Social Security or banking info with AI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Use strong, unique passwords for every account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Turn on two-factor authentication everywhere you can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Safety and Digital Literacy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Module 4: Safe AI Tool 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Use AI Without Getting Burned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Read what data the tool collects before you sign up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Don't share private health, legal, or financial info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Verify any factual claim from a second source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Treat AI like a smart but unreliable assistant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When in doubt, ask a real person you trust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Safety and Digital Literacy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EC4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FFFFFF"/>
                </a:solidFill>
                <a:latin typeface="Inter"/>
              </a:rPr>
              <a:t>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34640"/>
            <a:ext cx="109728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Inter"/>
              </a:rPr>
              <a:t>Module 5: When NOT to Trust AI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4389120"/>
            <a:ext cx="1097280" cy="3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Hard 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Medical decisions — always confirm with a doctor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Legal decisions — always confirm with a lawyer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Anything involving money or passwords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Voting and election information — go to the source</a:t>
            </a:r>
          </a:p>
          <a:p>
            <a:pPr algn="l">
              <a:spcAft>
                <a:spcPts val="10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Anything that sounds emotionally urgent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5760720"/>
            <a:ext cx="11247120" cy="50292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40000" cy="50292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585216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334155"/>
                </a:solidFill>
                <a:latin typeface="Inter"/>
              </a:rPr>
              <a:t>Presenter note: Plant the flag here: AI helps with information, humans make decisions.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Safety and Digital Literacy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011680" cy="411480"/>
          </a:xfrm>
          <a:prstGeom prst="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828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Inter"/>
              </a:rPr>
              <a:t>HANDS-ON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14300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1B365D"/>
                </a:solidFill>
                <a:latin typeface="Inter"/>
              </a:rPr>
              <a:t>Hands-On: The Grandparent Scam Drill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17520"/>
            <a:ext cx="10972800" cy="3291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1.  We'll play a 30-second AI-cloned voice clip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2.  Pretend it's a panicked call from a grandchild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3.  Write down: what would you do first?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4.  We'll discuss the safe answer (verify by calling them)</a:t>
            </a:r>
          </a:p>
          <a:p>
            <a:pPr algn="l">
              <a:spcAft>
                <a:spcPts val="1200"/>
              </a:spcAft>
            </a:pPr>
            <a:r>
              <a:rPr sz="2000">
                <a:solidFill>
                  <a:srgbClr val="334155"/>
                </a:solidFill>
                <a:latin typeface="Inter"/>
              </a:rPr>
              <a:t>•  Step 5.  Practice this with your real family this week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6446520"/>
            <a:ext cx="1828800" cy="18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Inter"/>
              </a:rPr>
              <a:t>SCAiL  ·  AI Safety and Digital Literacy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900" b="0">
                <a:solidFill>
                  <a:srgbClr val="334155"/>
                </a:solidFill>
                <a:latin typeface="Inter"/>
              </a:rPr>
              <a:t>scail.org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8288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400" b="1">
                <a:solidFill>
                  <a:srgbClr val="1B365D"/>
                </a:solidFill>
                <a:latin typeface="Inter"/>
              </a:rPr>
              <a:t>SC</a:t>
            </a:r>
            <a:r>
              <a:rPr sz="2400" b="1">
                <a:solidFill>
                  <a:srgbClr val="2EC4B6"/>
                </a:solidFill>
                <a:latin typeface="Inter"/>
              </a:rPr>
              <a:t>Ai</a:t>
            </a:r>
            <a:r>
              <a:rPr sz="2400" b="1">
                <a:solidFill>
                  <a:srgbClr val="1B365D"/>
                </a:solidFill>
                <a:latin typeface="Inter"/>
              </a:rPr>
              <a:t>L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731520" cy="25000"/>
          </a:xfrm>
          <a:prstGeom prst="rect">
            <a:avLst/>
          </a:prstGeom>
          <a:solidFill>
            <a:srgbClr val="D4A8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09728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600" b="1">
                <a:solidFill>
                  <a:srgbClr val="1B365D"/>
                </a:solidFill>
                <a:latin typeface="Inter"/>
              </a:rPr>
              <a:t>What You Walk Away With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1097280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✓  Knowing the top scam patterns to watch for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✓  A safety checklist to take home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✓  A family verification phrase to use when calls feel off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✓  Confidence to ask 'is this real?' without embarrassment</a:t>
            </a:r>
          </a:p>
          <a:p>
            <a:pPr algn="l">
              <a:spcAft>
                <a:spcPts val="1200"/>
              </a:spcAft>
            </a:pPr>
            <a:r>
              <a:rPr sz="2200">
                <a:solidFill>
                  <a:srgbClr val="334155"/>
                </a:solidFill>
                <a:latin typeface="Inter"/>
              </a:rPr>
              <a:t>•  ✓  A SCAiL contact for follow-up questions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5669280"/>
            <a:ext cx="12191695" cy="822960"/>
          </a:xfrm>
          <a:prstGeom prst="rect">
            <a:avLst/>
          </a:prstGeom>
          <a:solidFill>
            <a:srgbClr val="1B36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5806440"/>
            <a:ext cx="10972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Inter"/>
              </a:rPr>
              <a:t>Questions? hello@scail.org  ·  scail.org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612648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D4A843"/>
                </a:solidFill>
                <a:latin typeface="Inter"/>
              </a:rPr>
              <a:t>AI Literacy for Every Community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